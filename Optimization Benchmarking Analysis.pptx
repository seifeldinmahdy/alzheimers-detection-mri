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Arimo"/>
      <p:regular r:id="rId17"/>
      <p:bold r:id="rId18"/>
      <p:italic r:id="rId19"/>
      <p:boldItalic r:id="rId20"/>
    </p:embeddedFont>
    <p:embeddedFont>
      <p:font typeface="Azeret Mon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50D8EB-AF36-45B0-A0A0-F89D05C8F75A}">
  <a:tblStyle styleId="{6E50D8EB-AF36-45B0-A0A0-F89D05C8F7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Italic.fntdata"/><Relationship Id="rId11" Type="http://schemas.openxmlformats.org/officeDocument/2006/relationships/slide" Target="slides/slide5.xml"/><Relationship Id="rId22" Type="http://schemas.openxmlformats.org/officeDocument/2006/relationships/font" Target="fonts/AzeretMono-bold.fntdata"/><Relationship Id="rId10" Type="http://schemas.openxmlformats.org/officeDocument/2006/relationships/slide" Target="slides/slide4.xml"/><Relationship Id="rId21" Type="http://schemas.openxmlformats.org/officeDocument/2006/relationships/font" Target="fonts/AzeretMono-regular.fntdata"/><Relationship Id="rId13" Type="http://schemas.openxmlformats.org/officeDocument/2006/relationships/slide" Target="slides/slide7.xml"/><Relationship Id="rId24" Type="http://schemas.openxmlformats.org/officeDocument/2006/relationships/font" Target="fonts/AzeretMono-boldItalic.fntdata"/><Relationship Id="rId12" Type="http://schemas.openxmlformats.org/officeDocument/2006/relationships/slide" Target="slides/slide6.xml"/><Relationship Id="rId23" Type="http://schemas.openxmlformats.org/officeDocument/2006/relationships/font" Target="fonts/Azeret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im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m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Arim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11" Type="http://schemas.openxmlformats.org/officeDocument/2006/relationships/image" Target="../media/image20.png"/><Relationship Id="rId10" Type="http://schemas.openxmlformats.org/officeDocument/2006/relationships/image" Target="../media/image15.png"/><Relationship Id="rId12" Type="http://schemas.openxmlformats.org/officeDocument/2006/relationships/image" Target="../media/image13.png"/><Relationship Id="rId9" Type="http://schemas.openxmlformats.org/officeDocument/2006/relationships/image" Target="../media/image18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20354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OPTIMIZATION RESULTS REVIEW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3558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Performance &amp; Benchmarking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44156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zeret Mono"/>
                <a:ea typeface="Azeret Mono"/>
                <a:cs typeface="Azeret Mono"/>
                <a:sym typeface="Azeret Mono"/>
              </a:rPr>
              <a:t>Phase 1 (Deep Search) vs. Phase 2 (Tuned Efficiency)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52612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772816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Challenge: </a:t>
            </a:r>
            <a:r>
              <a:rPr b="1" lang="en-US" sz="240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MRI classification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268116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Developing robust metaheuristics requires balancing exploration of search space with exploitation of known optima.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85800" y="433768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4338637"/>
            <a:ext cx="5095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High computational cost in standard runs.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85800" y="463102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31977"/>
            <a:ext cx="5095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Necessity for rapid convergence in production.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5800" y="4924365"/>
            <a:ext cx="762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62000" y="4925317"/>
            <a:ext cx="5095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Evaluation of tuned vs. baseline performance.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Problem Background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46050" y="1633175"/>
            <a:ext cx="5374450" cy="486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15"/>
          <p:cNvGraphicFramePr/>
          <p:nvPr/>
        </p:nvGraphicFramePr>
        <p:xfrm>
          <a:off x="571500" y="2447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{6E50D8EB-AF36-45B0-A0A0-F89D05C8F75A}</a:tableStyleId>
              </a:tblPr>
              <a:tblGrid>
                <a:gridCol w="2445850"/>
                <a:gridCol w="1780425"/>
                <a:gridCol w="1686825"/>
                <a:gridCol w="1836675"/>
                <a:gridCol w="1967950"/>
                <a:gridCol w="1321750"/>
              </a:tblGrid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Algorithm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Time (s)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Source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Efficiency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GWO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0.79488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315.84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0.78491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284.00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0.77309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359.03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0.76289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380.65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GWO_tuned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0.67976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76.22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0.0089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WOA_tuned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0.61616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67.42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Phase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0.0091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15"/>
          <p:cNvSpPr/>
          <p:nvPr/>
        </p:nvSpPr>
        <p:spPr>
          <a:xfrm>
            <a:off x="576262" y="333851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022103" y="333851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4802534" y="333851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489352" y="333851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8326040" y="333851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0293994" y="333851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6262" y="377666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022103" y="377666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802534" y="377666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489352" y="377666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326040" y="377666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0293994" y="377666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76262" y="421481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022103" y="421481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802534" y="421481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489352" y="421481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326040" y="421481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10293994" y="421481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6262" y="465296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022103" y="465296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4802534" y="465296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6489352" y="465296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8326040" y="465296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0293994" y="465296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76262" y="509111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3022103" y="509111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802534" y="509111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6489352" y="509111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326040" y="509111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0293994" y="509111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576262" y="5529262"/>
            <a:ext cx="24458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3022103" y="5529262"/>
            <a:ext cx="17804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802534" y="5529262"/>
            <a:ext cx="1686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6489352" y="5529262"/>
            <a:ext cx="18366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8326040" y="5529262"/>
            <a:ext cx="19679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0293994" y="5529262"/>
            <a:ext cx="13217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Algorithm Benchmark Data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110490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571500" y="505390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Phase 1 algorithms consistently outperform tuned versions in absolute fitness scores.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Fitness Score Analysis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68972"/>
            <a:ext cx="5286375" cy="205353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3096517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PEAK EFFICIENCY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3458467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0.0091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4601467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WOA_tuned (Phase 2)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334125" y="2968972"/>
            <a:ext cx="555069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Value of Tuning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334125" y="346427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While Phase 1 wins on accuracy, Phase 2 (Tuning) offers a massive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4x efficiency gain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Efficiency Breakthrough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2919412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Top Ranked Algorithm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571500" y="3414712"/>
            <a:ext cx="4953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The Grey Wolf Optimizer secured Rank 1 with a score of 0.79488.</a:t>
            </a:r>
            <a:endParaRPr/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571500" y="4191892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Highest Fitness Floor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4485233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Balanced Exploration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4778573"/>
            <a:ext cx="4953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Superior Stability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1570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904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0238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2259300" y="1715575"/>
            <a:ext cx="157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GWO</a:t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571500" y="2500312"/>
            <a:ext cx="4953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04975"/>
            <a:ext cx="110490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71500" y="483006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Tuned algorithms (Phase 2) are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80% faster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on average than deep search baselines.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Execution Speed (Time)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0227"/>
            <a:ext cx="3524250" cy="3870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60227"/>
            <a:ext cx="3524250" cy="3870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060227"/>
            <a:ext cx="3524250" cy="38708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55502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29150" y="2355502"/>
            <a:ext cx="29337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91525" y="2355502"/>
            <a:ext cx="29337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866775" y="4260502"/>
            <a:ext cx="30803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Search Map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66775" y="4755802"/>
            <a:ext cx="29337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Visualization of the high-dimensional convergence space.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629150" y="4260502"/>
            <a:ext cx="30803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Review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629150" y="4755802"/>
            <a:ext cx="2933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Collaborative validation of hyperparameter thresholds.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391525" y="4260502"/>
            <a:ext cx="308038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Efficiency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391525" y="4755802"/>
            <a:ext cx="2933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Optimization of the Score vs. Time trade-off curve.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85825" y="2374552"/>
            <a:ext cx="28956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48200" y="2374552"/>
            <a:ext cx="289560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10575" y="2374552"/>
            <a:ext cx="28956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Experimental Visuals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572767"/>
            <a:ext cx="5286375" cy="1261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571500" y="3101155"/>
            <a:ext cx="344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Use GWO</a:t>
            </a:r>
            <a:r>
              <a:rPr b="1" lang="en-US" sz="165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PSO</a:t>
            </a:r>
            <a:r>
              <a:rPr b="1" lang="en-US" sz="165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, BAT, DE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(Phase 1)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71500" y="3944242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Training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WOA/GW</a:t>
            </a:r>
            <a:r>
              <a:rPr b="1" lang="en-US" sz="1650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O using Simulated Annealing</a:t>
            </a:r>
            <a:r>
              <a:rPr b="1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(Phase 2)</a:t>
            </a:r>
            <a:r>
              <a:rPr b="0" i="0" lang="en-US" sz="1650" u="none" cap="none" strike="noStrike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334125" y="3157537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TOP PERFORMERS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524625" y="3763267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3DD"/>
                </a:solidFill>
                <a:latin typeface="Arimo"/>
                <a:ea typeface="Arimo"/>
                <a:cs typeface="Arimo"/>
                <a:sym typeface="Arimo"/>
              </a:rPr>
              <a:t>Accuracy: GWO (0.794)</a:t>
            </a:r>
            <a:endParaRPr>
              <a:solidFill>
                <a:srgbClr val="FFF3DD"/>
              </a:solidFill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6524625" y="4056608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3DD"/>
                </a:solidFill>
                <a:latin typeface="Arimo"/>
                <a:ea typeface="Arimo"/>
                <a:cs typeface="Arimo"/>
                <a:sym typeface="Arimo"/>
              </a:rPr>
              <a:t>Speed: WOA_tuned (67.4s)</a:t>
            </a:r>
            <a:endParaRPr>
              <a:solidFill>
                <a:srgbClr val="FFF3DD"/>
              </a:solidFill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6524625" y="4349948"/>
            <a:ext cx="490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3DD"/>
                </a:solidFill>
                <a:latin typeface="Arimo"/>
                <a:ea typeface="Arimo"/>
                <a:cs typeface="Arimo"/>
                <a:sym typeface="Arimo"/>
              </a:rPr>
              <a:t>Efficiency: WOA_tuned (0.0091)</a:t>
            </a:r>
            <a:endParaRPr>
              <a:solidFill>
                <a:srgbClr val="FFF3DD"/>
              </a:solidFill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571500"/>
            <a:ext cx="9001125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Arimo"/>
                <a:ea typeface="Arimo"/>
                <a:cs typeface="Arimo"/>
                <a:sym typeface="Arimo"/>
              </a:rPr>
              <a:t>Conclusion &amp; Verdict</a:t>
            </a:r>
            <a:endParaRPr/>
          </a:p>
        </p:txBody>
      </p:sp>
      <p:sp>
        <p:nvSpPr>
          <p:cNvPr id="231" name="Google Shape;231;p21"/>
          <p:cNvSpPr/>
          <p:nvPr/>
        </p:nvSpPr>
        <p:spPr>
          <a:xfrm>
            <a:off x="571500" y="1285875"/>
            <a:ext cx="8572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3DD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295275" y="2502247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337854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zeret Mono"/>
                <a:ea typeface="Azeret Mono"/>
                <a:cs typeface="Azeret Mono"/>
                <a:sym typeface="Azeret Mono"/>
              </a:rPr>
              <a:t>QUESTIONS &amp; NEXT STEPS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